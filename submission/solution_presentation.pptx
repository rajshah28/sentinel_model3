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GUJARAT POLICE INNOVATION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7EDF7"/>
                </a:solidFill>
                <a:latin typeface="Calibri"/>
              </a:rPr>
              <a:t>VMS Federation &amp; Middleware — Reference Model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3C2"/>
                </a:solidFill>
                <a:latin typeface="Calibri"/>
              </a:rPr>
              <a:t>Statewide CCTV integration across 26 departments and heterogeneous VMS platforms — without replacing existing systems or centralizing raw video.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292608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A3C2"/>
                </a:solidFill>
                <a:latin typeface="Calibri"/>
              </a:rPr>
              <a:t>Problem Statement: Statewide CCTV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PROPOSED SOLUTION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3: VMS Federation &amp;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3C2"/>
                </a:solidFill>
                <a:latin typeface="Calibri"/>
              </a:rPr>
              <a:t>Adapters normalize each department's existing feed; only metadata &amp; events cross a shared bus; raw video stays where it already lives.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64240" cy="777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08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3A3C2"/>
                </a:solidFill>
                <a:latin typeface="Calibri"/>
              </a:rPr>
              <a:t>Model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E7EDF7"/>
                </a:solidFill>
                <a:latin typeface="Calibri"/>
              </a:rPr>
              <a:t>Full VMS Replacement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3A3C2"/>
                </a:solidFill>
                <a:latin typeface="Calibri"/>
              </a:rPr>
              <a:t>Not viable: 26 departments, sunk procurement, no guaranteed common migration schedule.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11064240" cy="777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95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3A3C2"/>
                </a:solidFill>
                <a:latin typeface="Calibri"/>
              </a:rPr>
              <a:t>Model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E7EDF7"/>
                </a:solidFill>
                <a:latin typeface="Calibri"/>
              </a:rPr>
              <a:t>Centralized Video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3A3C2"/>
                </a:solidFill>
                <a:latin typeface="Calibri"/>
              </a:rPr>
              <a:t>~96 Gbps statewide bandwidth (see slide 9), single point of failure, single huge attack surface.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064240" cy="777240"/>
          </a:xfrm>
          <a:prstGeom prst="roundRect">
            <a:avLst/>
          </a:prstGeom>
          <a:solidFill>
            <a:srgbClr val="1A2A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5818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Model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E7EDF7"/>
                </a:solidFill>
                <a:latin typeface="Calibri"/>
              </a:rPr>
              <a:t>Federation &amp; Middleware — THIS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94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7"/>
                </a:solidFill>
                <a:latin typeface="Calibri"/>
              </a:rPr>
              <a:t>Departments keep existing VMS; onboarding is additive (one new adapter); fastest realistic path to a correlated statewide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11064240" cy="777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268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3A3C2"/>
                </a:solidFill>
                <a:latin typeface="Calibri"/>
              </a:rPr>
              <a:t>Model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E7EDF7"/>
                </a:solidFill>
                <a:latin typeface="Calibri"/>
              </a:rPr>
              <a:t>Edge-AI Only, No 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663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3A3C2"/>
                </a:solidFill>
                <a:latin typeface="Calibri"/>
              </a:rPr>
              <a:t>Cannot do cross-camera / cross-department vehicle tracing — the hackathon's stated technical evaluation focus.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11064240" cy="777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9554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3A3C2"/>
                </a:solidFill>
                <a:latin typeface="Calibri"/>
              </a:rPr>
              <a:t>Model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E7EDF7"/>
                </a:solidFill>
                <a:latin typeface="Calibri"/>
              </a:rPr>
              <a:t>Hybrid Cloud-Native SaaS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32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3A3C2"/>
                </a:solidFill>
                <a:latin typeface="Calibri"/>
              </a:rPr>
              <a:t>Reasonable long-term target — but a procurement/vendor decision, not a hackathon prototype's to presuppose. Model 3's bus/adapter pattern is a clean on-ramp to it later.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Objectives &amp;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Prove the federation pattern end-to-end on real video, real ANPR, and a real watchlist match with a live alert — not mocked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Make cross-camera vehicle tracing — the hackathon's stated evaluation focus — a first-class, fast API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Keep the architecture honestly incremental: every “at scale, X becomes Y” claim maps to a component actually built tonight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Calibri"/>
              </a:rPr>
              <a:t>Key Innovations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Vendor-agnostic by construction: onboarding a new department = one new adapter class, zero core-logic changes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Metadata-only federation: raw video never leaves its source; only detection events, timestamps, and evidence crops cross the bus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One correlation engine, many feeds: cross-camera trace works identically whether sightings came from a live RTSP grid or a snapshot-poll DVR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064240" cy="192024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What was actually built and verified tonight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7EDF7"/>
                </a:solidFill>
                <a:latin typeface="Calibri"/>
              </a:rPr>
              <a:t>▪ 4 vendor adapters (3 simulated with genuinely distinct ingestion mechanics + 1 real, authenticated live government RTSP grid)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7EDF7"/>
                </a:solidFill>
                <a:latin typeface="Calibri"/>
              </a:rPr>
              <a:t>▪ Real YOLOv8n + EasyOCR ANPR, real event bus, real correlation engine, real Postgres-backed watchlist matching and alerting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7EDF7"/>
                </a:solidFill>
                <a:latin typeface="Calibri"/>
              </a:rPr>
              <a:t>▪ Real JWT/RBAC dashboard with GIS map, vehicle-trace timeline, and live WebSocket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Federation Architecture — End to End</a:t>
            </a:r>
          </a:p>
        </p:txBody>
      </p:sp>
      <p:pic>
        <p:nvPicPr>
          <p:cNvPr id="4" name="Picture 3" descr="architectur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5147374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Data Flow (as implemented)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90472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1732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7EDF7"/>
                </a:solidFill>
                <a:latin typeface="Calibri"/>
              </a:rPr>
              <a:t>One of 4 vendor adapters (3 simulated + 1 live govt RTSP grid) samples frames and normalizes them into a common NormalizedFrame schema.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58568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ANPR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58568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7EDF7"/>
                </a:solidFill>
                <a:latin typeface="Calibri"/>
              </a:rPr>
              <a:t>YOLOv8n locates plate regions on a 640px-downscaled frame; EasyOCR reads text from each crop at full resolution.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72968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Event 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99816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7EDF7"/>
                </a:solidFill>
                <a:latin typeface="Calibri"/>
              </a:rPr>
              <a:t>Each plate read becomes a DetectionEvent, published to the bus — not a direct function call. In-process async pub/sub tonight; Kafka/Redis Streams contract-compatible at scale.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41064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Correlation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941064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7EDF7"/>
                </a:solidFill>
                <a:latin typeface="Calibri"/>
              </a:rPr>
              <a:t>The single place a “match” decision is made: dedupes detections (10s window), checks the watchlist table, decides sighting vs. alert.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55464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782312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Alert +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78231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7EDF7"/>
                </a:solidFill>
                <a:latin typeface="Calibri"/>
              </a:rPr>
              <a:t>On a match, an AlertRecord is written and an AlertEvent published; all detections/alerts land in PostgreSQL.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696712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6235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62356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7EDF7"/>
                </a:solidFill>
                <a:latin typeface="Calibri"/>
              </a:rPr>
              <a:t>FastAPI serves REST + a /ws/alerts WebSocket; the React dashboard shows live alerts, GIS map, and vehicle-trace timelines within seconds.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AI-POWERED VIDEO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ANPR Pipeline — Real Detection, Real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Detection: YOLOv8n (plate-detector weights), 640px-downscaled input, CPU-only inference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Recognition: EasyOCR on each full-resolution plate crop; multi-fragment text concatenation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Sampled-frame processing (1 frame / 1–2s), not full-rate — the single biggest lever for CPU-only, and the basis for statewide GPU sizing (slide 9)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Measured: ~0.1–0.2s/frame on CPU across all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Verified accuracy (real footage)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Vendor B clip: plate read correctly as BGY888 in 13/19 sampled frames, confidence 0.83–0.99 — the reproducible watchlist-match demo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Vendor C clip: 100% detection rate; OCR close-but-imperfect on a stylized mixed-script novelty plate — a font edge case, not a pipeline defect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7EDF7"/>
                </a:solidFill>
                <a:latin typeface="Calibri"/>
              </a:rPr>
              <a:t>▪ Vendor A clip: 0 reads — plates genuinely not legible at filmed distance, kept deliberately to show a realistic heterogeneous fleet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11064240" cy="1874519"/>
          </a:xfrm>
          <a:prstGeom prst="roundRect">
            <a:avLst/>
          </a:prstGeom>
          <a:solidFill>
            <a:srgbClr val="2A1A1A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Honest finding — real government feed (Demo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68 real detections from 7 reachable live government cameras — 0 passed independent Indian-plate-format validation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Root cause (confirmed by direct frame inspection): every reachable camera captured real night footage; the detector keyed on the camera's own burned-in overlay text (location/timestamp banner), not a vehicle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This confirms the full live pipeline — real authenticated RTSP, real PTS timing, real inference — works end-to-end; the result reflects camera content at capture time, not a pipeline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CORRELATION &amp; 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Watchlist Matching → Real-Time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A PostgreSQL watchlist table holds stolen/wanted-vehicle records (plate, reason, priority, flagging department)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The correlation engine is the single subscriber to the detection-event stream — every plate read from every vendor/camera is checked against the same watchlist, regardless of source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Deduplication: repeated detections of the same plate on the same camera within a 10-second window collapse into one sighting, not a spam of alerts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On a match: an AlertRecord is persisted and an AlertEvent is published — the dashboard's WebSocket relays it live, confirmed to reach the UI within seconds of the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50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Calibri"/>
              </a:rPr>
              <a:t>BGY888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62272"/>
            <a:ext cx="23865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reproducible watchlist match → real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84048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3950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0.969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4462272"/>
            <a:ext cx="23865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OCR confidence on the matched plate 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950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10s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462272"/>
            <a:ext cx="23865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dedup window — 13 raw reads → 1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84048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39502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&lt;5s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4462272"/>
            <a:ext cx="23865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detection → dashboard, over live 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KEY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Stack &amp;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4480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Backend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Python / FastAPI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YOLOv8n (Ultralytics) — plate detection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EasyOCR — text recognition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OpenCV + FFmpeg — RTSP/video I/O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697480" cy="4480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Data &amp; Messaging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PostgreSQL (timestamptz-correct schema)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In-process async pub/sub bus tonight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Kafka / Redis Streams — contract-compatible swap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697480" cy="4480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Frontend &amp;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React + Leaflet (GIS map)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JWT auth, 2-role RBAC (admin / department-user)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WebSocket live alert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463040"/>
            <a:ext cx="2697480" cy="448056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6459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14884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Docker Compose (all 3 services)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Kubernetes — designed statewide topology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7EDF7"/>
                </a:solidFill>
                <a:latin typeface="Calibri"/>
              </a:rPr>
              <a:t>▪ Verified locally via micromamba (no-root path)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SCALABILITY, INTEROPERABILITY,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From 5 Cameras to 80,000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Sizing method (worked, assumption-stated — not fabricated precision)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06040" cy="14173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~3,400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23865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GPUs statewide (T4/A10-class, +20% headroom)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606040" cy="14173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9385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~35–40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450592"/>
            <a:ext cx="23865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correlation-engine replicas, partitioned by 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606040" cy="14173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385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1.6 Gbps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450592"/>
            <a:ext cx="23865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3C2"/>
                </a:solidFill>
                <a:latin typeface="Calibri"/>
              </a:rPr>
              <a:t>sustained bandwidth — ~60x less than full video centralization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2606040" cy="141732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9385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Calibri"/>
              </a:rPr>
              <a:t>~145 TB/yr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450592"/>
            <a:ext cx="23865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3C2"/>
                </a:solidFill>
                <a:latin typeface="Calibri"/>
              </a:rPr>
              <a:t>cold-tier archival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Interoperability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033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Onboarding a new department = one new adapter class; zero changes to bus, correlation engine, or API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Designed protocol support: ONVIF Profile S/G, vendor REST/SDK adapters, MQTT/webhook push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26-department onboarding requirements documented per department (camera inventory, VMS/protocol, network link, consumed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37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Security &amp;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033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Implemented: bcrypt + JWT auth, 2-role RBAC enforced at API + UI, credential redaction on the live-feed adapter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Designed for production: TLS everywhere, encryption at rest, audit logging, API gateway hardening, secrets manager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Kubernetes multi-zone topology; Docker Compose used for tonight's single-host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Operational Benefits for Policing &amp; Public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Faster stolen/wanted-vehicle recovery: automated watchlist matching replaces manual bulletin checks, alert reaches an operator within seconds of a sighting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Cross-department correlation in seconds, not days: a vehicle trace query today can take 1–3 days of manual cross-department coordination — federated correlation makes it instant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No re-platforming cost or disruption: departments keep existing VMS investments; CAPEX avoided vs. full replacement (Model 1) estimated at ~$36M in hardware/licensing alone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7EDF7"/>
                </a:solidFill>
                <a:latin typeface="Calibri"/>
              </a:rPr>
              <a:t>▪ Statewide oversight without statewide video centralization: Home Department gets a correlated, real-time view without the bandwidth, storage, and single-point-of-failure cost of centralizing raw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18288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Cost framing (hackathon-stage estimate, not procurement-grade)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Statewide CAPEX ≈ $18–23M (GPU compute is 65–80% of this); OPEX ≈ $4.2–8M/yr (owned) or $11–20M/yr (cloud-rented)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7EDF7"/>
                </a:solidFill>
                <a:latin typeface="Calibri"/>
              </a:rPr>
              <a:t>▪ Vs. Model 1 full VMS replacement hardware/licensing alone ≈ $36M — before ongoing re-platforming disruption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Path to Statewide, and Future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06040" cy="1371600"/>
          </a:xfrm>
          <a:prstGeom prst="roundRect">
            <a:avLst/>
          </a:prstGeom>
          <a:solidFill>
            <a:srgbClr val="1A2A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Tonight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A3C2"/>
                </a:solidFill>
                <a:latin typeface="Calibri"/>
              </a:rPr>
              <a:t>5 cams, 3 adapters,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Pilot Dept.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965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A3C2"/>
                </a:solidFill>
                <a:latin typeface="Calibri"/>
              </a:rPr>
              <a:t>~500–1,000 cams, 1 dept, first GPU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District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A3C2"/>
                </a:solidFill>
                <a:latin typeface="Calibri"/>
              </a:rPr>
              <a:t>~10,000 cams, multi-dept, DB sharding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63040"/>
            <a:ext cx="2606040" cy="1371600"/>
          </a:xfrm>
          <a:prstGeom prst="roundRect">
            <a:avLst/>
          </a:prstGeom>
          <a:solidFill>
            <a:srgbClr val="121C30"/>
          </a:solidFill>
          <a:ln w="12700">
            <a:solidFill>
              <a:srgbClr val="26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Statewide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965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A3C2"/>
                </a:solidFill>
                <a:latin typeface="Calibri"/>
              </a:rPr>
              <a:t>80,000 cams, 26 depts, multi-zone K8s, DR 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Future integrations — documented, explicitly not built (no mock responses)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VAHAN — vehicle registration lookup enriching a plate match with registered-owner details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SARTHI — driving license database cross-reference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eGujCop — bidirectional case management / FIR linkage (watchlist entries already reference FIR numbers in this demo)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7EDF7"/>
                </a:solidFill>
                <a:latin typeface="Calibri"/>
              </a:rPr>
              <a:t>▪ AFIS / NAFIS — face recognition, as a second analytics module running parallel to ANPR on the same normalized frame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11064240" cy="692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 working federation, not a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A3C2"/>
                </a:solidFill>
                <a:latin typeface="Calibri"/>
              </a:rPr>
              <a:t>4 real adapters · real ANPR · real correlation · real alerts · real cross-camera trace · a real, authenticated connection to government infrastructure.</a:t>
            </a:r>
          </a:p>
          <a:p>
            <a:pPr algn="l"/>
            <a:r>
              <a:rPr sz="1500" b="0" i="0">
                <a:solidFill>
                  <a:srgbClr val="93A3C2"/>
                </a:solidFill>
                <a:latin typeface="Calibri"/>
              </a:rPr>
              <a:t>Every claim in this deck traces to code, a test, or a log in the submitted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3C2"/>
                </a:solidFill>
                <a:latin typeface="Calibri"/>
              </a:rPr>
              <a:t>SENTINEL — Reference Model 3: VMS Federation &amp;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3C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